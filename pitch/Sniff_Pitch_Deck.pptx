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E8C547"/>
                </a:solidFill>
                <a:latin typeface="Segoe UI"/>
              </a:rPr>
              <a:t>SNIFF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08760"/>
            <a:ext cx="93268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5800" b="1" i="0">
                <a:solidFill>
                  <a:srgbClr val="E7EAF0"/>
                </a:solidFill>
                <a:latin typeface="Segoe UI Semibold"/>
              </a:rPr>
              <a:t>The AI mystery shopper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5800" b="1" i="0">
                <a:solidFill>
                  <a:srgbClr val="E7EAF0"/>
                </a:solidFill>
                <a:latin typeface="Segoe UI Semibold"/>
              </a:rPr>
              <a:t>for your website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8638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000" b="0" i="0">
                <a:solidFill>
                  <a:srgbClr val="9AA4B8"/>
                </a:solidFill>
                <a:latin typeface="Segoe UI"/>
              </a:rPr>
              <a:t>An autonomous browser agent that tests signup flows and audits landing pages the way a real, easily-confused human would — then tells you exactly why they left.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9893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8B93F5"/>
                </a:solidFill>
                <a:latin typeface="Segoe UI"/>
              </a:rPr>
              <a:t>sniff-web.vercel.app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30936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5C6478"/>
                </a:solidFill>
                <a:latin typeface="Segoe UI"/>
              </a:rPr>
              <a:t>Hackathon submission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8580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E8C547"/>
                </a:solidFill>
                <a:latin typeface="Segoe U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51560"/>
            <a:ext cx="103327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000" b="1" i="0">
                <a:solidFill>
                  <a:srgbClr val="E7EAF0"/>
                </a:solidFill>
                <a:latin typeface="Segoe UI Semibold"/>
              </a:rPr>
              <a:t>“Why aren’t people signing up?” has no honest, evidence-backed answer today.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514600"/>
            <a:ext cx="3291840" cy="3200400"/>
          </a:xfrm>
          <a:prstGeom prst="roundRect">
            <a:avLst>
              <a:gd name="adj" fmla="val 6000"/>
            </a:avLst>
          </a:prstGeom>
          <a:solidFill>
            <a:srgbClr val="161F38"/>
          </a:solidFill>
          <a:ln w="12700">
            <a:solidFill>
              <a:srgbClr val="2A3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788920"/>
            <a:ext cx="2651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600" b="1" i="0">
                <a:solidFill>
                  <a:srgbClr val="6366F1"/>
                </a:solidFill>
                <a:latin typeface="Segoe UI Semibold"/>
              </a:rPr>
              <a:t>6.6%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3611880"/>
            <a:ext cx="26517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800" b="0" i="0">
                <a:solidFill>
                  <a:srgbClr val="E7EAF0"/>
                </a:solidFill>
                <a:latin typeface="Segoe UI"/>
              </a:rPr>
              <a:t>median landing-page conversion rate across all industries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5166360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1">
                <a:solidFill>
                  <a:srgbClr val="9AA4B8"/>
                </a:solidFill>
                <a:latin typeface="Segoe UI"/>
              </a:rPr>
              <a:t>Unbounce, 2025 Conversion Benchmark Report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2514600"/>
            <a:ext cx="3291840" cy="3200400"/>
          </a:xfrm>
          <a:prstGeom prst="roundRect">
            <a:avLst>
              <a:gd name="adj" fmla="val 6000"/>
            </a:avLst>
          </a:prstGeom>
          <a:solidFill>
            <a:srgbClr val="161F38"/>
          </a:solidFill>
          <a:ln w="12700">
            <a:solidFill>
              <a:srgbClr val="2A3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79" y="2788920"/>
            <a:ext cx="2651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600" b="1" i="0">
                <a:solidFill>
                  <a:srgbClr val="E8C547"/>
                </a:solidFill>
                <a:latin typeface="Segoe UI Semibold"/>
              </a:rPr>
              <a:t>70.2%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79" y="3611880"/>
            <a:ext cx="26517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800" b="0" i="0">
                <a:solidFill>
                  <a:srgbClr val="E7EAF0"/>
                </a:solidFill>
                <a:latin typeface="Segoe UI"/>
              </a:rPr>
              <a:t>average documented checkout/signup abandonment rate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79" y="5166360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1">
                <a:solidFill>
                  <a:srgbClr val="9AA4B8"/>
                </a:solidFill>
                <a:latin typeface="Segoe UI"/>
              </a:rPr>
              <a:t>Baymard Institute, 2025 (50-study meta-analysis)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79" y="2514600"/>
            <a:ext cx="3291840" cy="3200400"/>
          </a:xfrm>
          <a:prstGeom prst="roundRect">
            <a:avLst>
              <a:gd name="adj" fmla="val 6000"/>
            </a:avLst>
          </a:prstGeom>
          <a:solidFill>
            <a:srgbClr val="161F38"/>
          </a:solidFill>
          <a:ln w="12700">
            <a:solidFill>
              <a:srgbClr val="2A3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19" y="2788920"/>
            <a:ext cx="2651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600" b="1" i="0">
                <a:solidFill>
                  <a:srgbClr val="6EE7C0"/>
                </a:solidFill>
                <a:latin typeface="Segoe UI Semibold"/>
              </a:rPr>
              <a:t>$260B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19" y="3611880"/>
            <a:ext cx="26517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800" b="0" i="0">
                <a:solidFill>
                  <a:srgbClr val="E7EAF0"/>
                </a:solidFill>
                <a:latin typeface="Segoe UI"/>
              </a:rPr>
              <a:t>in recoverable lost orders across US+EU e-commerce from fixable checkout/UX friction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19" y="5166360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1">
                <a:solidFill>
                  <a:srgbClr val="9AA4B8"/>
                </a:solidFill>
                <a:latin typeface="Segoe UI"/>
              </a:rPr>
              <a:t>Baymard Institute, checkout usability research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75720" y="649224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5C6478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8580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8B93F5"/>
                </a:solidFill>
                <a:latin typeface="Segoe UI"/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51560"/>
            <a:ext cx="103327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000" b="1" i="0">
                <a:solidFill>
                  <a:srgbClr val="E7EAF0"/>
                </a:solidFill>
                <a:latin typeface="Segoe UI Semibold"/>
              </a:rPr>
              <a:t>An agent that behaves like a real visitor, not a script.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377440"/>
            <a:ext cx="5074920" cy="3749039"/>
          </a:xfrm>
          <a:prstGeom prst="rect">
            <a:avLst/>
          </a:prstGeom>
          <a:solidFill>
            <a:srgbClr val="161F38"/>
          </a:solidFill>
          <a:ln w="12700">
            <a:solidFill>
              <a:srgbClr val="2A3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2697480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5C6478"/>
                </a:solidFill>
                <a:latin typeface="Segoe UI"/>
              </a:rPr>
              <a:t>TRADITIONAL QA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200400"/>
            <a:ext cx="438912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70000"/>
              </a:lnSpc>
              <a:spcAft>
                <a:spcPts val="0"/>
              </a:spcAft>
            </a:pPr>
            <a:r>
              <a:rPr sz="1900" b="0" i="0">
                <a:solidFill>
                  <a:srgbClr val="9AA4B8"/>
                </a:solidFill>
                <a:latin typeface="Segoe UI"/>
              </a:rPr>
              <a:t>•  Hardcoded CSS selectors</a:t>
            </a:r>
          </a:p>
          <a:p>
            <a:pPr algn="l">
              <a:lnSpc>
                <a:spcPct val="170000"/>
              </a:lnSpc>
              <a:spcAft>
                <a:spcPts val="0"/>
              </a:spcAft>
            </a:pPr>
            <a:r>
              <a:rPr sz="1900" b="0" i="0">
                <a:solidFill>
                  <a:srgbClr val="9AA4B8"/>
                </a:solidFill>
                <a:latin typeface="Segoe UI"/>
              </a:rPr>
              <a:t>•  Breaks the moment the UI changes</a:t>
            </a:r>
          </a:p>
          <a:p>
            <a:pPr algn="l">
              <a:lnSpc>
                <a:spcPct val="170000"/>
              </a:lnSpc>
              <a:spcAft>
                <a:spcPts val="0"/>
              </a:spcAft>
            </a:pPr>
            <a:r>
              <a:rPr sz="1900" b="0" i="0">
                <a:solidFill>
                  <a:srgbClr val="9AA4B8"/>
                </a:solidFill>
                <a:latin typeface="Segoe UI"/>
              </a:rPr>
              <a:t>•  Tells you pass/fail, never why</a:t>
            </a:r>
          </a:p>
          <a:p>
            <a:pPr algn="l">
              <a:lnSpc>
                <a:spcPct val="170000"/>
              </a:lnSpc>
              <a:spcAft>
                <a:spcPts val="0"/>
              </a:spcAft>
            </a:pPr>
            <a:r>
              <a:rPr sz="1900" b="0" i="0">
                <a:solidFill>
                  <a:srgbClr val="9AA4B8"/>
                </a:solidFill>
                <a:latin typeface="Segoe UI"/>
              </a:rPr>
              <a:t>•  Can't judge confusing copy or clutter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2377440"/>
            <a:ext cx="5074920" cy="3749039"/>
          </a:xfrm>
          <a:prstGeom prst="rect">
            <a:avLst/>
          </a:prstGeom>
          <a:solidFill>
            <a:srgbClr val="1B2648"/>
          </a:solidFill>
          <a:ln w="12700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2697480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E8C547"/>
                </a:solidFill>
                <a:latin typeface="Segoe UI"/>
              </a:rPr>
              <a:t>SNIFF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3200400"/>
            <a:ext cx="438912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70000"/>
              </a:lnSpc>
              <a:spcAft>
                <a:spcPts val="0"/>
              </a:spcAft>
            </a:pPr>
            <a:r>
              <a:rPr sz="1900" b="0" i="0">
                <a:solidFill>
                  <a:srgbClr val="E7EAF0"/>
                </a:solidFill>
                <a:latin typeface="Segoe UI"/>
              </a:rPr>
              <a:t>•  Looks at the real screenshot, like a person</a:t>
            </a:r>
          </a:p>
          <a:p>
            <a:pPr algn="l">
              <a:lnSpc>
                <a:spcPct val="170000"/>
              </a:lnSpc>
              <a:spcAft>
                <a:spcPts val="0"/>
              </a:spcAft>
            </a:pPr>
            <a:r>
              <a:rPr sz="1900" b="0" i="0">
                <a:solidFill>
                  <a:srgbClr val="E7EAF0"/>
                </a:solidFill>
                <a:latin typeface="Segoe UI"/>
              </a:rPr>
              <a:t>•  Decides the next click from what it sees</a:t>
            </a:r>
          </a:p>
          <a:p>
            <a:pPr algn="l">
              <a:lnSpc>
                <a:spcPct val="170000"/>
              </a:lnSpc>
              <a:spcAft>
                <a:spcPts val="0"/>
              </a:spcAft>
            </a:pPr>
            <a:r>
              <a:rPr sz="1900" b="0" i="0">
                <a:solidFill>
                  <a:srgbClr val="E7EAF0"/>
                </a:solidFill>
                <a:latin typeface="Segoe UI"/>
              </a:rPr>
              <a:t>•  Diagnoses root cause, severity, owner</a:t>
            </a:r>
          </a:p>
          <a:p>
            <a:pPr algn="l">
              <a:lnSpc>
                <a:spcPct val="170000"/>
              </a:lnSpc>
              <a:spcAft>
                <a:spcPts val="0"/>
              </a:spcAft>
            </a:pPr>
            <a:r>
              <a:rPr sz="1900" b="0" i="0">
                <a:solidFill>
                  <a:srgbClr val="E7EAF0"/>
                </a:solidFill>
                <a:latin typeface="Segoe UI"/>
              </a:rPr>
              <a:t>•  Scores clarity, trust, and friction directly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75720" y="649224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5C6478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8580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E8C547"/>
                </a:solidFill>
                <a:latin typeface="Segoe UI"/>
              </a:rPr>
              <a:t>THE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51560"/>
            <a:ext cx="103327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000" b="1" i="0">
                <a:solidFill>
                  <a:srgbClr val="E7EAF0"/>
                </a:solidFill>
                <a:latin typeface="Segoe UI Semibold"/>
              </a:rPr>
              <a:t>Two surfaces, one agent.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331720"/>
            <a:ext cx="5074920" cy="3794760"/>
          </a:xfrm>
          <a:prstGeom prst="rect">
            <a:avLst/>
          </a:prstGeom>
          <a:solidFill>
            <a:srgbClr val="161F38"/>
          </a:solidFill>
          <a:ln w="12700">
            <a:solidFill>
              <a:srgbClr val="2A3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2651760"/>
            <a:ext cx="4389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8B93F5"/>
                </a:solidFill>
                <a:latin typeface="Segoe UI Semibold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108960"/>
            <a:ext cx="4389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E7EAF0"/>
                </a:solidFill>
                <a:latin typeface="Segoe UI Semibold"/>
              </a:rPr>
              <a:t>Signup / Onboarding Testing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3794760"/>
            <a:ext cx="438912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700" b="0" i="0">
                <a:solidFill>
                  <a:srgbClr val="9AA4B8"/>
                </a:solidFill>
                <a:latin typeface="Segoe UI"/>
              </a:rPr>
              <a:t>•  Persona-driven runs (confused first-timer, impatient user, careful reader)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700" b="0" i="0">
                <a:solidFill>
                  <a:srgbClr val="9AA4B8"/>
                </a:solidFill>
                <a:latin typeface="Segoe UI"/>
              </a:rPr>
              <a:t>•  Root-cause diagnosis: Backend / UX / Performance / Integration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700" b="0" i="0">
                <a:solidFill>
                  <a:srgbClr val="9AA4B8"/>
                </a:solidFill>
                <a:latin typeface="Segoe UI"/>
              </a:rPr>
              <a:t>•  Severity classification P0–P3, escalated via Slack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2331720"/>
            <a:ext cx="5074920" cy="3794760"/>
          </a:xfrm>
          <a:prstGeom prst="rect">
            <a:avLst/>
          </a:prstGeom>
          <a:solidFill>
            <a:srgbClr val="161F38"/>
          </a:solidFill>
          <a:ln w="12700">
            <a:solidFill>
              <a:srgbClr val="2A3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2651760"/>
            <a:ext cx="4389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E8C547"/>
                </a:solidFill>
                <a:latin typeface="Segoe UI Semibold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3108960"/>
            <a:ext cx="4389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E7EAF0"/>
                </a:solidFill>
                <a:latin typeface="Segoe UI Semibold"/>
              </a:rPr>
              <a:t>Landing-Page Conversion Audit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3794760"/>
            <a:ext cx="438912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700" b="0" i="0">
                <a:solidFill>
                  <a:srgbClr val="9AA4B8"/>
                </a:solidFill>
                <a:latin typeface="Segoe UI"/>
              </a:rPr>
              <a:t>•  Overall score + 5-dimension breakdown (clarity, fit, action path, trust, depth)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700" b="0" i="0">
                <a:solidFill>
                  <a:srgbClr val="9AA4B8"/>
                </a:solidFill>
                <a:latin typeface="Segoe UI"/>
              </a:rPr>
              <a:t>•  Annotated screenshot of exactly what it clicked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700" b="0" i="0">
                <a:solidFill>
                  <a:srgbClr val="9AA4B8"/>
                </a:solidFill>
                <a:latin typeface="Segoe UI"/>
              </a:rPr>
              <a:t>•  Step-by-step narrative, copy rewrites, prioritized fixes — nothing paywalled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75720" y="649224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5C6478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8580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8B93F5"/>
                </a:solidFill>
                <a:latin typeface="Segoe UI"/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51560"/>
            <a:ext cx="103327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 i="0">
                <a:solidFill>
                  <a:srgbClr val="E7EAF0"/>
                </a:solidFill>
                <a:latin typeface="Segoe UI Semibold"/>
              </a:rPr>
              <a:t>Three-tier reasoning stack — smart where it matters, cheap everywhere else.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514600"/>
            <a:ext cx="3291840" cy="3383280"/>
          </a:xfrm>
          <a:prstGeom prst="roundRect">
            <a:avLst>
              <a:gd name="adj" fmla="val 6000"/>
            </a:avLst>
          </a:prstGeom>
          <a:solidFill>
            <a:srgbClr val="161F38"/>
          </a:solidFill>
          <a:ln w="12700">
            <a:solidFill>
              <a:srgbClr val="6EE7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514600"/>
            <a:ext cx="3291840" cy="73152"/>
          </a:xfrm>
          <a:prstGeom prst="rect">
            <a:avLst/>
          </a:prstGeom>
          <a:solidFill>
            <a:srgbClr val="6EE7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2788920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6EE7C0"/>
                </a:solidFill>
                <a:latin typeface="Segoe UI"/>
              </a:rPr>
              <a:t>TIER 1 · DETERMINISTIC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3246120"/>
            <a:ext cx="26517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200" b="1" i="0">
                <a:solidFill>
                  <a:srgbClr val="E7EAF0"/>
                </a:solidFill>
                <a:latin typeface="Segoe UI Semibold"/>
              </a:rPr>
              <a:t>Free DOM/CSS checks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4114800"/>
            <a:ext cx="26517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0" i="0">
                <a:solidFill>
                  <a:srgbClr val="9AA4B8"/>
                </a:solidFill>
                <a:latin typeface="Segoe UI"/>
              </a:rPr>
              <a:t>Colors, fonts, link health, Core Web Vitals, SEO/meta — zero model calls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2514600"/>
            <a:ext cx="3291840" cy="3383280"/>
          </a:xfrm>
          <a:prstGeom prst="roundRect">
            <a:avLst>
              <a:gd name="adj" fmla="val 6000"/>
            </a:avLst>
          </a:prstGeom>
          <a:solidFill>
            <a:srgbClr val="161F38"/>
          </a:solidFill>
          <a:ln w="12700">
            <a:solidFill>
              <a:srgbClr val="8B93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26280" y="2514600"/>
            <a:ext cx="3291840" cy="73152"/>
          </a:xfrm>
          <a:prstGeom prst="rect">
            <a:avLst/>
          </a:prstGeom>
          <a:solidFill>
            <a:srgbClr val="8B9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0" y="2788920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8B93F5"/>
                </a:solidFill>
                <a:latin typeface="Segoe UI"/>
              </a:rPr>
              <a:t>TIER 2 · JEV (ULTRA-FAST)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3246120"/>
            <a:ext cx="26517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200" b="1" i="0">
                <a:solidFill>
                  <a:srgbClr val="E7EAF0"/>
                </a:solidFill>
                <a:latin typeface="Segoe UI Semibold"/>
              </a:rPr>
              <a:t>Sanity gate &amp; routing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4114800"/>
            <a:ext cx="26517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0" i="0">
                <a:solidFill>
                  <a:srgbClr val="9AA4B8"/>
                </a:solidFill>
                <a:latin typeface="Segoe UI"/>
              </a:rPr>
              <a:t>Goal-reached checks, context enrichment, decision critique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2514600"/>
            <a:ext cx="3291840" cy="3383280"/>
          </a:xfrm>
          <a:prstGeom prst="roundRect">
            <a:avLst>
              <a:gd name="adj" fmla="val 6000"/>
            </a:avLst>
          </a:prstGeom>
          <a:solidFill>
            <a:srgbClr val="161F38"/>
          </a:solidFill>
          <a:ln w="12700">
            <a:solidFill>
              <a:srgbClr val="E8C5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2514600"/>
            <a:ext cx="3291840" cy="73152"/>
          </a:xfrm>
          <a:prstGeom prst="rect">
            <a:avLst/>
          </a:prstGeom>
          <a:solidFill>
            <a:srgbClr val="E8C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58200" y="2788920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E8C547"/>
                </a:solidFill>
                <a:latin typeface="Segoe UI"/>
              </a:rPr>
              <a:t>TIER 3 · GEMINI + K2-HORIZON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3246120"/>
            <a:ext cx="26517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200" b="1" i="0">
                <a:solidFill>
                  <a:srgbClr val="E7EAF0"/>
                </a:solidFill>
                <a:latin typeface="Segoe UI Semibold"/>
              </a:rPr>
              <a:t>Vision-grounded judgment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4114800"/>
            <a:ext cx="26517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0" i="0">
                <a:solidFill>
                  <a:srgbClr val="9AA4B8"/>
                </a:solidFill>
                <a:latin typeface="Segoe UI"/>
              </a:rPr>
              <a:t>Navigation decisions, scoring, narrative, copy rewrites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75720" y="649224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5C6478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8580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E8C547"/>
                </a:solidFill>
                <a:latin typeface="Segoe UI"/>
              </a:rPr>
              <a:t>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51560"/>
            <a:ext cx="10332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600" b="1" i="0">
                <a:solidFill>
                  <a:srgbClr val="E7EAF0"/>
                </a:solidFill>
                <a:latin typeface="Segoe UI Semibold"/>
              </a:rPr>
              <a:t>The market this sits in is compounding fast.</a:t>
            </a:r>
          </a:p>
        </p:txBody>
      </p:sp>
      <p:pic>
        <p:nvPicPr>
          <p:cNvPr id="5" name="Picture 4" descr="market_grow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965960"/>
            <a:ext cx="10332720" cy="404323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598932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5C6478"/>
                </a:solidFill>
                <a:latin typeface="Segoe UI"/>
              </a:rPr>
              <a:t>Sources: MarketsandMarkets, “AI Test Automation Market” (2026) — marketsandmarkets.com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5C6478"/>
                </a:solidFill>
                <a:latin typeface="Segoe UI"/>
              </a:rPr>
              <a:t>Grand View Research, “AI Agents Market Size To Reach $182.97 Billion By 2033” — grandviewresearch.com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9224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5C6478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8580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8B93F5"/>
                </a:solidFill>
                <a:latin typeface="Segoe UI"/>
              </a:rPr>
              <a:t>WHY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51560"/>
            <a:ext cx="10332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 i="0">
                <a:solidFill>
                  <a:srgbClr val="E7EAF0"/>
                </a:solidFill>
                <a:latin typeface="Segoe UI Semibold"/>
              </a:rPr>
              <a:t>Enterprises are already moving — most just haven’t scaled yet.</a:t>
            </a:r>
          </a:p>
        </p:txBody>
      </p:sp>
      <p:pic>
        <p:nvPicPr>
          <p:cNvPr id="5" name="Picture 4" descr="adoption_g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1920240"/>
            <a:ext cx="10058400" cy="376096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566928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 i="1">
                <a:solidFill>
                  <a:srgbClr val="E7EAF0"/>
                </a:solidFill>
                <a:latin typeface="Segoe UI"/>
              </a:rPr>
              <a:t>Gartner forecasts 70% of enterprises will have AI-augmented software testing tools in their engineering toolchain by 2028, up from ~20% in early 2025.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26364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5C6478"/>
                </a:solidFill>
                <a:latin typeface="Segoe UI"/>
              </a:rPr>
              <a:t>Sources: McKinsey &amp; Company, “The State of AI in 2025” (2025) — mckinsey.com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5C6478"/>
                </a:solidFill>
                <a:latin typeface="Segoe UI"/>
              </a:rPr>
              <a:t>Capgemini, “World Quality Report 2025–26” (17th ed.) — capgemini.com  ·  Gartner, AI-Augmented Software Testing Tools Magic Quadrant (Oct 2025)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9224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5C6478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8580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E8C547"/>
                </a:solidFill>
                <a:latin typeface="Segoe UI"/>
              </a:rPr>
              <a:t>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51560"/>
            <a:ext cx="10332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000" b="1" i="0">
                <a:solidFill>
                  <a:srgbClr val="E7EAF0"/>
                </a:solidFill>
                <a:latin typeface="Segoe UI Semibold"/>
              </a:rPr>
              <a:t>Built, tested, and live — not a mockup.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514600"/>
            <a:ext cx="2377440" cy="2377440"/>
          </a:xfrm>
          <a:prstGeom prst="roundRect">
            <a:avLst>
              <a:gd name="adj" fmla="val 8000"/>
            </a:avLst>
          </a:prstGeom>
          <a:solidFill>
            <a:srgbClr val="161F38"/>
          </a:solidFill>
          <a:ln w="12700">
            <a:solidFill>
              <a:srgbClr val="2A3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920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8B93F5"/>
                </a:solidFill>
                <a:latin typeface="Segoe UI Semibold"/>
              </a:rPr>
              <a:t>153 / 153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3520440"/>
            <a:ext cx="19202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 i="0">
                <a:solidFill>
                  <a:srgbClr val="9AA4B8"/>
                </a:solidFill>
                <a:latin typeface="Segoe UI"/>
              </a:rPr>
              <a:t>automated tests passing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93008" y="2514600"/>
            <a:ext cx="2377440" cy="2377440"/>
          </a:xfrm>
          <a:prstGeom prst="roundRect">
            <a:avLst>
              <a:gd name="adj" fmla="val 8000"/>
            </a:avLst>
          </a:prstGeom>
          <a:solidFill>
            <a:srgbClr val="161F38"/>
          </a:solidFill>
          <a:ln w="12700">
            <a:solidFill>
              <a:srgbClr val="2A3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21608" y="2743200"/>
            <a:ext cx="1920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8B93F5"/>
                </a:solidFill>
                <a:latin typeface="Segoe UI Semibold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21608" y="3520440"/>
            <a:ext cx="19202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 i="0">
                <a:solidFill>
                  <a:srgbClr val="9AA4B8"/>
                </a:solidFill>
                <a:latin typeface="Segoe UI"/>
              </a:rPr>
              <a:t>AI providers wired live — Gemini, k2-horizon, Jev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71616" y="2514600"/>
            <a:ext cx="2377440" cy="2377440"/>
          </a:xfrm>
          <a:prstGeom prst="roundRect">
            <a:avLst>
              <a:gd name="adj" fmla="val 8000"/>
            </a:avLst>
          </a:prstGeom>
          <a:solidFill>
            <a:srgbClr val="161F38"/>
          </a:solidFill>
          <a:ln w="12700">
            <a:solidFill>
              <a:srgbClr val="2A3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0216" y="2743200"/>
            <a:ext cx="1920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8B93F5"/>
                </a:solidFill>
                <a:latin typeface="Segoe UI Semibold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0216" y="3520440"/>
            <a:ext cx="19202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 i="0">
                <a:solidFill>
                  <a:srgbClr val="9AA4B8"/>
                </a:solidFill>
                <a:latin typeface="Segoe UI"/>
              </a:rPr>
              <a:t>products in one agent — signup testing + conversion audit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50224" y="2514600"/>
            <a:ext cx="2377440" cy="2377440"/>
          </a:xfrm>
          <a:prstGeom prst="roundRect">
            <a:avLst>
              <a:gd name="adj" fmla="val 8000"/>
            </a:avLst>
          </a:prstGeom>
          <a:solidFill>
            <a:srgbClr val="161F38"/>
          </a:solidFill>
          <a:ln w="12700">
            <a:solidFill>
              <a:srgbClr val="2A3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78824" y="2743200"/>
            <a:ext cx="1920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8B93F5"/>
                </a:solidFill>
                <a:latin typeface="Segoe UI Semibold"/>
              </a:rPr>
              <a:t>100%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78824" y="3520440"/>
            <a:ext cx="19202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 i="0">
                <a:solidFill>
                  <a:srgbClr val="9AA4B8"/>
                </a:solidFill>
                <a:latin typeface="Segoe UI"/>
              </a:rPr>
              <a:t>public access — no signup required for judges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303520"/>
            <a:ext cx="10332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700" b="0" i="0">
                <a:solidFill>
                  <a:srgbClr val="9AA4B8"/>
                </a:solidFill>
                <a:latin typeface="Segoe UI"/>
              </a:rPr>
              <a:t>Deployed end-to-end: FastAPI backend on Cloud Run, Next.js frontend on Vercel. Verified with real runs and real audits against the live stack.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75720" y="649224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5C6478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91440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0" b="1" i="0">
                <a:solidFill>
                  <a:srgbClr val="E7EAF0"/>
                </a:solidFill>
                <a:latin typeface="Segoe UI Semibold"/>
              </a:rPr>
              <a:t>Try it live.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200" b="0" i="0">
                <a:solidFill>
                  <a:srgbClr val="9AA4B8"/>
                </a:solidFill>
                <a:latin typeface="Segoe UI"/>
              </a:rPr>
              <a:t>Paste any URL and watch an AI agent tell you the truth about your website.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84632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E8C547"/>
                </a:solidFill>
                <a:latin typeface="Segoe UI Semibold"/>
              </a:rPr>
              <a:t>sniff-web.vercel.app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49224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5C6478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